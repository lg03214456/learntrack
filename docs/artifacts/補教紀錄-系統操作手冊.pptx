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e2f0ae20c64ddb" /><Relationship Type="http://schemas.openxmlformats.org/officeDocument/2006/relationships/extended-properties" Target="/docProps/app.xml" Id="Rff51a4560ea94576" /><Relationship Type="http://schemas.openxmlformats.org/officeDocument/2006/relationships/officeDocument" Target="/ppt/presentation.xml" Id="R728eb945407449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87227e5a974da1"/>
  </p:sldMasterIdLst>
  <p:notesMasterIdLst>
    <p:notesMasterId xmlns:r="http://schemas.openxmlformats.org/officeDocument/2006/relationships" r:id="Rdc72eaf477214b26"/>
  </p:notesMasterIdLst>
  <p:sldIdLst>
    <p:sldId xmlns:r="http://schemas.openxmlformats.org/officeDocument/2006/relationships" id="256" r:id="Rda483ecd9e194cf0"/>
    <p:sldId xmlns:r="http://schemas.openxmlformats.org/officeDocument/2006/relationships" id="257" r:id="Rf710a37ec137494d"/>
    <p:sldId xmlns:r="http://schemas.openxmlformats.org/officeDocument/2006/relationships" id="258" r:id="R9e57b0775d674d70"/>
    <p:sldId xmlns:r="http://schemas.openxmlformats.org/officeDocument/2006/relationships" id="259" r:id="R4f085c4764384215"/>
    <p:sldId xmlns:r="http://schemas.openxmlformats.org/officeDocument/2006/relationships" id="260" r:id="R4e41605598ba4a65"/>
    <p:sldId xmlns:r="http://schemas.openxmlformats.org/officeDocument/2006/relationships" id="261" r:id="R47efb774886045e9"/>
    <p:sldId xmlns:r="http://schemas.openxmlformats.org/officeDocument/2006/relationships" id="262" r:id="R09250bbb396d415f"/>
    <p:sldId xmlns:r="http://schemas.openxmlformats.org/officeDocument/2006/relationships" id="263" r:id="Rd9c1a6aca2af4c13"/>
    <p:sldId xmlns:r="http://schemas.openxmlformats.org/officeDocument/2006/relationships" id="264" r:id="R74ac5f087b0245b3"/>
    <p:sldId xmlns:r="http://schemas.openxmlformats.org/officeDocument/2006/relationships" id="265" r:id="R1f694105fa7d4b14"/>
    <p:sldId xmlns:r="http://schemas.openxmlformats.org/officeDocument/2006/relationships" id="266" r:id="R862b803735b8493c"/>
    <p:sldId xmlns:r="http://schemas.openxmlformats.org/officeDocument/2006/relationships" id="267" r:id="Re063d878217a44bc"/>
    <p:sldId xmlns:r="http://schemas.openxmlformats.org/officeDocument/2006/relationships" id="268" r:id="R42daa8c4fa394343"/>
    <p:sldId xmlns:r="http://schemas.openxmlformats.org/officeDocument/2006/relationships" id="269" r:id="R612cfd33af4846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0e693866634cac" /><Relationship Type="http://schemas.openxmlformats.org/officeDocument/2006/relationships/slideMaster" Target="/ppt/slideMasters/slideMaster1.xml" Id="Re487227e5a974da1" /><Relationship Type="http://schemas.openxmlformats.org/officeDocument/2006/relationships/notesMaster" Target="/ppt/notesMasters/notesMaster1.xml" Id="Rdc72eaf477214b26" /><Relationship Type="http://schemas.openxmlformats.org/officeDocument/2006/relationships/presProps" Target="/ppt/presProps.xml" Id="Rdb6ccce12ebe4c3f" /><Relationship Type="http://schemas.openxmlformats.org/officeDocument/2006/relationships/tableStyles" Target="/ppt/tableStyles.xml" Id="Rbd6dd70a862a450f" /><Relationship Type="http://schemas.openxmlformats.org/officeDocument/2006/relationships/slide" Target="/ppt/slides/slide1.xml" Id="Rda483ecd9e194cf0" /><Relationship Type="http://schemas.openxmlformats.org/officeDocument/2006/relationships/slide" Target="/ppt/slides/slide2.xml" Id="Rf710a37ec137494d" /><Relationship Type="http://schemas.openxmlformats.org/officeDocument/2006/relationships/slide" Target="/ppt/slides/slide3.xml" Id="R9e57b0775d674d70" /><Relationship Type="http://schemas.openxmlformats.org/officeDocument/2006/relationships/slide" Target="/ppt/slides/slide4.xml" Id="R4f085c4764384215" /><Relationship Type="http://schemas.openxmlformats.org/officeDocument/2006/relationships/slide" Target="/ppt/slides/slide5.xml" Id="R4e41605598ba4a65" /><Relationship Type="http://schemas.openxmlformats.org/officeDocument/2006/relationships/slide" Target="/ppt/slides/slide6.xml" Id="R47efb774886045e9" /><Relationship Type="http://schemas.openxmlformats.org/officeDocument/2006/relationships/slide" Target="/ppt/slides/slide7.xml" Id="R09250bbb396d415f" /><Relationship Type="http://schemas.openxmlformats.org/officeDocument/2006/relationships/slide" Target="/ppt/slides/slide8.xml" Id="Rd9c1a6aca2af4c13" /><Relationship Type="http://schemas.openxmlformats.org/officeDocument/2006/relationships/slide" Target="/ppt/slides/slide9.xml" Id="R74ac5f087b0245b3" /><Relationship Type="http://schemas.openxmlformats.org/officeDocument/2006/relationships/slide" Target="/ppt/slides/slide10.xml" Id="R1f694105fa7d4b14" /><Relationship Type="http://schemas.openxmlformats.org/officeDocument/2006/relationships/slide" Target="/ppt/slides/slide11.xml" Id="R862b803735b8493c" /><Relationship Type="http://schemas.openxmlformats.org/officeDocument/2006/relationships/slide" Target="/ppt/slides/slide12.xml" Id="Re063d878217a44bc" /><Relationship Type="http://schemas.openxmlformats.org/officeDocument/2006/relationships/slide" Target="/ppt/slides/slide13.xml" Id="R42daa8c4fa394343" /><Relationship Type="http://schemas.openxmlformats.org/officeDocument/2006/relationships/slide" Target="/ppt/slides/slide14.xml" Id="R612cfd33af4846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05f763961348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81a2532cd3425a" /><Relationship Type="http://schemas.openxmlformats.org/officeDocument/2006/relationships/notesMaster" Target="/ppt/notesMasters/notesMaster1.xml" Id="R8607ad4e285b48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0198b1d76745bc" /><Relationship Type="http://schemas.openxmlformats.org/officeDocument/2006/relationships/notesMaster" Target="/ppt/notesMasters/notesMaster1.xml" Id="Re75acaf04b6b42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a7574a729a46c3" /><Relationship Type="http://schemas.openxmlformats.org/officeDocument/2006/relationships/notesMaster" Target="/ppt/notesMasters/notesMaster1.xml" Id="Rb5684ff385c84c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d305b7559c497b" /><Relationship Type="http://schemas.openxmlformats.org/officeDocument/2006/relationships/notesMaster" Target="/ppt/notesMasters/notesMaster1.xml" Id="Rbb7d60f5ffdf4a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54b026f8024267" /><Relationship Type="http://schemas.openxmlformats.org/officeDocument/2006/relationships/notesMaster" Target="/ppt/notesMasters/notesMaster1.xml" Id="R8c6b8f5fa90446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995e1df9cc4f96" /><Relationship Type="http://schemas.openxmlformats.org/officeDocument/2006/relationships/notesMaster" Target="/ppt/notesMasters/notesMaster1.xml" Id="R0f270723121d49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013a26c96c4bc6" /><Relationship Type="http://schemas.openxmlformats.org/officeDocument/2006/relationships/notesMaster" Target="/ppt/notesMasters/notesMaster1.xml" Id="R31289d2358a64a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a327905e734a20" /><Relationship Type="http://schemas.openxmlformats.org/officeDocument/2006/relationships/notesMaster" Target="/ppt/notesMasters/notesMaster1.xml" Id="Rbc8e8c4854444f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2fe3ce12dd45fa" /><Relationship Type="http://schemas.openxmlformats.org/officeDocument/2006/relationships/notesMaster" Target="/ppt/notesMasters/notesMaster1.xml" Id="Rec5be88b4d9247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d17c7d5602490e" /><Relationship Type="http://schemas.openxmlformats.org/officeDocument/2006/relationships/notesMaster" Target="/ppt/notesMasters/notesMaster1.xml" Id="R20f1fd01084c4e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8ef42ba750480c" /><Relationship Type="http://schemas.openxmlformats.org/officeDocument/2006/relationships/notesMaster" Target="/ppt/notesMasters/notesMaster1.xml" Id="R776f56f2cc4748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0495a63cf84359" /><Relationship Type="http://schemas.openxmlformats.org/officeDocument/2006/relationships/notesMaster" Target="/ppt/notesMasters/notesMaster1.xml" Id="Re3ba8af600bb44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df6a2a670044fe" /><Relationship Type="http://schemas.openxmlformats.org/officeDocument/2006/relationships/notesMaster" Target="/ppt/notesMasters/notesMaster1.xml" Id="R818fc509a8a243d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7dc2c344e5e4221" /><Relationship Type="http://schemas.openxmlformats.org/officeDocument/2006/relationships/notesMaster" Target="/ppt/notesMasters/notesMaster1.xml" Id="Rc3506be1735a40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3567e4d10a44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0425cdbd934981" /><Relationship Type="http://schemas.openxmlformats.org/officeDocument/2006/relationships/slideLayout" Target="/ppt/slideLayouts/slideLayout1.xml" Id="R58c5e5022e0b40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c5e5022e0b40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cc514f4e940ef" /><Relationship Type="http://schemas.openxmlformats.org/officeDocument/2006/relationships/notesSlide" Target="/ppt/notesSlides/notesSlide1.xml" Id="R82344126dfa940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c4c07d2e24907" /><Relationship Type="http://schemas.openxmlformats.org/officeDocument/2006/relationships/notesSlide" Target="/ppt/notesSlides/notesSlide2.xml" Id="Rcc51e0ea3d5642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dfa3361024778" /><Relationship Type="http://schemas.openxmlformats.org/officeDocument/2006/relationships/notesSlide" Target="/ppt/notesSlides/notesSlide3.xml" Id="Rf71b64a658ef4b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fb2012ed04281" /><Relationship Type="http://schemas.openxmlformats.org/officeDocument/2006/relationships/image" Target="/ppt/media/image.jpeg" Id="R84fd13e3b12647ba" /><Relationship Type="http://schemas.openxmlformats.org/officeDocument/2006/relationships/notesSlide" Target="/ppt/notesSlides/notesSlide4.xml" Id="R2c765ca552c744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f0eb7bc2447cc" /><Relationship Type="http://schemas.openxmlformats.org/officeDocument/2006/relationships/image" Target="/ppt/media/image2.jpeg" Id="Rcfc01f12dd4d488e" /><Relationship Type="http://schemas.openxmlformats.org/officeDocument/2006/relationships/notesSlide" Target="/ppt/notesSlides/notesSlide5.xml" Id="R2a3e2e9e121747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6ec6ff3a0444c" /><Relationship Type="http://schemas.openxmlformats.org/officeDocument/2006/relationships/image" Target="/ppt/media/image3.jpeg" Id="Rd28857f0dea34684" /><Relationship Type="http://schemas.openxmlformats.org/officeDocument/2006/relationships/notesSlide" Target="/ppt/notesSlides/notesSlide6.xml" Id="Reaa5530a5b5241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45bec11c348c9" /><Relationship Type="http://schemas.openxmlformats.org/officeDocument/2006/relationships/image" Target="/ppt/media/image4.jpeg" Id="Rc72558dbe38d4b79" /><Relationship Type="http://schemas.openxmlformats.org/officeDocument/2006/relationships/notesSlide" Target="/ppt/notesSlides/notesSlide7.xml" Id="R321d2b84210141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a11023cc642e0" /><Relationship Type="http://schemas.openxmlformats.org/officeDocument/2006/relationships/image" Target="/ppt/media/image5.jpeg" Id="Rf71ffbd276d0457c" /><Relationship Type="http://schemas.openxmlformats.org/officeDocument/2006/relationships/notesSlide" Target="/ppt/notesSlides/notesSlide8.xml" Id="R36e9e075bdae44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451ae258b476c" /><Relationship Type="http://schemas.openxmlformats.org/officeDocument/2006/relationships/image" Target="/ppt/media/image6.jpeg" Id="Rf66f0c0cb2dc4a7f" /><Relationship Type="http://schemas.openxmlformats.org/officeDocument/2006/relationships/notesSlide" Target="/ppt/notesSlides/notesSlide9.xml" Id="Rd9824f79ab364e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648b908da4e70" /><Relationship Type="http://schemas.openxmlformats.org/officeDocument/2006/relationships/image" Target="/ppt/media/image7.jpeg" Id="R0318b693a7e744a2" /><Relationship Type="http://schemas.openxmlformats.org/officeDocument/2006/relationships/notesSlide" Target="/ppt/notesSlides/notesSlide10.xml" Id="Rf5ec5a038d8843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480a6f6ab4873" /><Relationship Type="http://schemas.openxmlformats.org/officeDocument/2006/relationships/image" Target="/ppt/media/image8.jpeg" Id="Rc1ff288cb9254467" /><Relationship Type="http://schemas.openxmlformats.org/officeDocument/2006/relationships/notesSlide" Target="/ppt/notesSlides/notesSlide11.xml" Id="Ra0272f9e51b54a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d0ebd353b4980" /><Relationship Type="http://schemas.openxmlformats.org/officeDocument/2006/relationships/image" Target="/ppt/media/image9.jpeg" Id="R2631c0842ae5485a" /><Relationship Type="http://schemas.openxmlformats.org/officeDocument/2006/relationships/notesSlide" Target="/ppt/notesSlides/notesSlide12.xml" Id="Rdc38506f942d41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3712106e84db1" /><Relationship Type="http://schemas.openxmlformats.org/officeDocument/2006/relationships/notesSlide" Target="/ppt/notesSlides/notesSlide13.xml" Id="Reb82e22520b649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b5d90b12d40be" /><Relationship Type="http://schemas.openxmlformats.org/officeDocument/2006/relationships/notesSlide" Target="/ppt/notesSlides/notesSlide14.xml" Id="Rb3a266dfe8b54c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077CE-A374-461E-BE4B-199233FC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33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D65D1-6EE4-41CC-BBCD-D3B6B075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9E512-7B7B-408D-8CB8-B9D8C1F5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補教紀錄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FD4C9-AD3B-4A63-9937-D7D77BF7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CE4DF"/>
                </a:solidFill>
              </a:defRPr>
            </a:pPr>
            <a:r>
              <a:rPr sz="1125" b="1">
                <a:solidFill>
                  <a:srgbClr val="BCE4DF"/>
                </a:solidFill>
              </a:rPr>
              <a:t>PROGRESS 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E2A69-A865-440A-B890-E9A8D21B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52625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233B"/>
                </a:solidFill>
              </a:defRPr>
            </a:pPr>
            <a:r>
              <a:rPr sz="4200" b="1">
                <a:solidFill>
                  <a:srgbClr val="10233B"/>
                </a:solidFill>
              </a:rPr>
              <a:t>系統操作手冊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90A9A-2084-4F2F-8BB9-937DA368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289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F5B57"/>
                </a:solidFill>
              </a:defRPr>
            </a:pPr>
            <a:r>
              <a:rPr sz="1875" b="0">
                <a:solidFill>
                  <a:srgbClr val="0F5B57"/>
                </a:solidFill>
              </a:rPr>
              <a:t>從期初設定、每日課堂到學生追蹤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45C60-4856-47C0-B1B5-84131433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48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現行 Mock 測試版 ·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D4FEA-79CE-4748-A3D5-0589B87B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429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適用：Owner／主任／老師</a:t>
            </a:r>
          </a:p>
        </p:txBody>
      </p:sp>
    </p:spTree>
    <p:extLst>
      <p:ext uri="{BB962C8B-B14F-4D97-AF65-F5344CB8AC3E}">
        <p14:creationId xmlns:p14="http://schemas.microsoft.com/office/powerpoint/2010/main" val="2948230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A38CA2-4C09-4F7F-B11D-01829CD2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B57"/>
                </a:solidFill>
              </a:defRPr>
            </a:pPr>
            <a:r>
              <a:rPr sz="1125" b="1">
                <a:solidFill>
                  <a:srgbClr val="0F5B57"/>
                </a:solidFill>
              </a:rPr>
              <a:t>01 · 系統概念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6FCF8-3124-4658-ACE3-A2414EEE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53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B"/>
                </a:solidFill>
              </a:defRPr>
            </a:pPr>
            <a:r>
              <a:rPr sz="2850" b="1">
                <a:solidFill>
                  <a:srgbClr val="10233B"/>
                </a:solidFill>
              </a:rPr>
              <a:t>先理解四個核心資料關係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C9A3E-3343-436A-B2E7-9DF02704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239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91688-A96F-4898-891B-0342A25D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105B1-86F0-4E5B-917B-3CCAFD6C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5B57"/>
                </a:solidFill>
              </a:defRPr>
            </a:pPr>
            <a:r>
              <a:rPr sz="1350" b="1">
                <a:solidFill>
                  <a:srgbClr val="0F5B57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C41F9-C269-427D-9271-D38EB26C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33B"/>
                </a:solidFill>
              </a:defRPr>
            </a:pPr>
            <a:r>
              <a:rPr sz="2025" b="1">
                <a:solidFill>
                  <a:srgbClr val="10233B"/>
                </a:solidFill>
              </a:rPr>
              <a:t>教材範本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FAD90-2D80-4F29-BB2F-03C3B4FE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71775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定義教材版本、單元與章節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D6B70-547B-44D9-9C94-891B05AA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241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E3493-70C7-4813-AB2D-C23B13D4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28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5B57"/>
                </a:solidFill>
              </a:defRPr>
            </a:pPr>
            <a:r>
              <a:rPr sz="1350" b="1">
                <a:solidFill>
                  <a:srgbClr val="0F5B57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CA0A2-07F0-4D67-9600-D6F75CAE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33B"/>
                </a:solidFill>
              </a:defRPr>
            </a:pPr>
            <a:r>
              <a:rPr sz="2025" b="1">
                <a:solidFill>
                  <a:srgbClr val="10233B"/>
                </a:solidFill>
              </a:rPr>
              <a:t>班級與排課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AF7ED-9979-418F-8D6B-5B0C3B46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71775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決定教師、上課日期與成員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64273-6A8C-4D7E-BF28-30BB39AC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241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6552C7-FA10-4ED5-9432-4610FC7D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28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5B57"/>
                </a:solidFill>
              </a:defRPr>
            </a:pPr>
            <a:r>
              <a:rPr sz="1350" b="1">
                <a:solidFill>
                  <a:srgbClr val="0F5B57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EC8B5-A26F-481B-A18A-F87B37B3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33B"/>
                </a:solidFill>
              </a:defRPr>
            </a:pPr>
            <a:r>
              <a:rPr sz="2025" b="1">
                <a:solidFill>
                  <a:srgbClr val="10233B"/>
                </a:solidFill>
              </a:rPr>
              <a:t>學生修課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13668A-F368-4184-B332-4B847DF0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71775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每位學生獨立指定教材版本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31E3BD-CF24-4601-B4AE-0E5D32F0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41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1C5E65-C0FC-4DA9-80DD-26107153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28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5B57"/>
                </a:solidFill>
              </a:defRPr>
            </a:pPr>
            <a:r>
              <a:rPr sz="1350" b="1">
                <a:solidFill>
                  <a:srgbClr val="0F5B57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33A69-68AE-42D6-AFA8-EAC6F723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669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33B"/>
                </a:solidFill>
              </a:defRPr>
            </a:pPr>
            <a:r>
              <a:rPr sz="2025" b="1">
                <a:solidFill>
                  <a:srgbClr val="10233B"/>
                </a:solidFill>
              </a:rPr>
              <a:t>每日紀錄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7999E-F33B-4DF2-BA7E-47E70807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71775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點名、進度、考卷、成績與評語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1714F9-8237-4216-AA2A-8E9BAC5A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0858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6A8E3D-1D46-499F-AE58-18568E78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3F3C"/>
                </a:solidFill>
              </a:defRPr>
            </a:pPr>
            <a:r>
              <a:rPr sz="1800" b="1">
                <a:solidFill>
                  <a:srgbClr val="073F3C"/>
                </a:solidFill>
              </a:rPr>
              <a:t>關鍵原則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F74867-E43F-447E-A210-921DA0DD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29125"/>
            <a:ext cx="823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33B"/>
                </a:solidFill>
              </a:defRPr>
            </a:pPr>
            <a:r>
              <a:rPr sz="1650" b="0">
                <a:solidFill>
                  <a:srgbClr val="10233B"/>
                </a:solidFill>
              </a:rPr>
              <a:t>班級不綁死教材版本；同一班可容納不同年級，學生依自己的修課計畫記錄進度。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43ABC-768F-48B7-86CE-40E44EA4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補教紀錄 · Progress Hub</a:t>
            </a:r>
          </a:p>
        </p:txBody>
      </p:sp>
    </p:spTree>
    <p:extLst>
      <p:ext uri="{BB962C8B-B14F-4D97-AF65-F5344CB8AC3E}">
        <p14:creationId xmlns:p14="http://schemas.microsoft.com/office/powerpoint/2010/main" val="10176344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7C5709-FC95-4F9D-A85A-ECAA7D90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B57"/>
                </a:solidFill>
              </a:defRPr>
            </a:pPr>
            <a:r>
              <a:rPr sz="1125" b="1">
                <a:solidFill>
                  <a:srgbClr val="0F5B57"/>
                </a:solidFill>
              </a:rPr>
              <a:t>02 · 身分與權限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E8374-6ABE-48CC-A6DD-9B8DD370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53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B"/>
                </a:solidFill>
              </a:defRPr>
            </a:pPr>
            <a:r>
              <a:rPr sz="2850" b="1">
                <a:solidFill>
                  <a:srgbClr val="10233B"/>
                </a:solidFill>
              </a:rPr>
              <a:t>角色決定可操作範圍，不只決定看見什麼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0A3A1-1E58-4408-9637-09A8D1FF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239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17149-2C65-4D50-9E70-11359B83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6375E-DD4E-43B0-A6C3-0D679AAD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5B57"/>
                </a:solidFill>
              </a:defRPr>
            </a:pPr>
            <a:r>
              <a:rPr sz="1950" b="1">
                <a:solidFill>
                  <a:srgbClr val="0F5B57"/>
                </a:solidFill>
              </a:rPr>
              <a:t>Owner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DFD85-7218-4106-A097-4E60311B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9070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全機構設定、帳號與角色治理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46A20-29D9-49B7-971C-2103B72E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72C94-A9E0-48F9-8FCA-953B7859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33B"/>
                </a:solidFill>
              </a:defRPr>
            </a:pPr>
            <a:r>
              <a:rPr sz="1950" b="1">
                <a:solidFill>
                  <a:srgbClr val="10233B"/>
                </a:solidFill>
              </a:rPr>
              <a:t>主任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2F528-6933-4BDB-8E09-9764E221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8130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日常營運、班級與學生管理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5DFFD-3517-4B61-817E-DF299BC0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6707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A38E3-99BB-4C5E-A271-FB5DA615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33B"/>
                </a:solidFill>
              </a:defRPr>
            </a:pPr>
            <a:r>
              <a:rPr sz="1950" b="1">
                <a:solidFill>
                  <a:srgbClr val="10233B"/>
                </a:solidFill>
              </a:rPr>
              <a:t>老師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A72FE-1FB4-4B65-A0C2-32BBE5B1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7190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被指派班級、點名與學習紀錄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54CAB-F82F-4960-8E69-6B61AAC1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7AE06-75F4-435A-915E-3B882683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33B"/>
                </a:solidFill>
              </a:defRPr>
            </a:pPr>
            <a:r>
              <a:rPr sz="1950" b="1">
                <a:solidFill>
                  <a:srgbClr val="10233B"/>
                </a:solidFill>
              </a:rPr>
              <a:t>學生／家長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5C7A9-87C9-4DED-9F21-75C28158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6250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僅本人或已綁定孩子資料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C23ED-9668-47DC-8E10-F542EA7A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27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E8861-CB6C-4607-9898-8A873BC5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目前左側的 Mock 身分切換只供流程驗證，不是真實登入。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AAD55-201B-46BC-82D0-F46332D4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補教紀錄 · Progress Hub</a:t>
            </a:r>
          </a:p>
        </p:txBody>
      </p:sp>
    </p:spTree>
    <p:extLst>
      <p:ext uri="{BB962C8B-B14F-4D97-AF65-F5344CB8AC3E}">
        <p14:creationId xmlns:p14="http://schemas.microsoft.com/office/powerpoint/2010/main" val="13128462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301DC-DEC8-4042-91BA-CE1FF926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B57"/>
                </a:solidFill>
              </a:defRPr>
            </a:pPr>
            <a:r>
              <a:rPr sz="1125" b="1">
                <a:solidFill>
                  <a:srgbClr val="0F5B57"/>
                </a:solidFill>
              </a:rPr>
              <a:t>03 · 學生名單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FD8DC-7F8B-482A-A87F-0927DF39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53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B"/>
                </a:solidFill>
              </a:defRPr>
            </a:pPr>
            <a:r>
              <a:rPr sz="2850" b="1">
                <a:solidFill>
                  <a:srgbClr val="10233B"/>
                </a:solidFill>
              </a:rPr>
              <a:t>學生名單是日常查詢的主入口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56EB1-A705-4619-977C-F6B2B6AD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239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4A35A-93F9-43FA-9954-32BDD077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04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d13e3b12647ba"/>
          <a:stretch xmlns:a="http://schemas.openxmlformats.org/drawingml/2006/main"/>
        </p:blipFill>
        <p:spPr>
          <a:xfrm xmlns:a="http://schemas.openxmlformats.org/drawingml/2006/main">
            <a:off x="1612604" y="1619250"/>
            <a:ext cx="5633042" cy="4238625"/>
          </a:xfrm>
          <a:prstGeom xmlns:a="http://schemas.openxmlformats.org/drawingml/2006/main" prst="roundRect">
            <a:avLst>
              <a:gd name="adj" fmla="val 269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E108B-1755-4717-A223-6156CE6C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695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5B57"/>
                </a:solidFill>
              </a:defRPr>
            </a:pPr>
            <a:r>
              <a:rPr sz="1875" b="1">
                <a:solidFill>
                  <a:srgbClr val="0F5B57"/>
                </a:solidFill>
              </a:rPr>
              <a:t>主要操作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12536-CFC4-469C-B097-3CF1BADC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09800"/>
            <a:ext cx="266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3B"/>
                </a:solidFill>
              </a:defRPr>
            </a:pPr>
            <a:r>
              <a:rPr sz="1425" b="0">
                <a:solidFill>
                  <a:srgbClr val="10233B"/>
                </a:solidFill>
              </a:rPr>
              <a:t>1  搜尋姓名或學號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233B"/>
                </a:solidFill>
              </a:defRPr>
            </a:pPr>
            <a:r>
              <a:rPr sz="1425" b="0">
                <a:solidFill>
                  <a:srgbClr val="10233B"/>
                </a:solidFill>
              </a:rPr>
              <a:t>2  依班級、狀態即時篩選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233B"/>
                </a:solidFill>
              </a:defRPr>
            </a:pPr>
            <a:r>
              <a:rPr sz="1425" b="0">
                <a:solidFill>
                  <a:srgbClr val="10233B"/>
                </a:solidFill>
              </a:rPr>
              <a:t>3  點學生進入個人頁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233B"/>
                </a:solidFill>
              </a:defRPr>
            </a:pPr>
            <a:r>
              <a:rPr sz="1425" b="0">
                <a:solidFill>
                  <a:srgbClr val="10233B"/>
                </a:solidFill>
              </a:rPr>
              <a:t>4  管理資料與班級歸屬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233B"/>
                </a:solidFill>
              </a:defRPr>
            </a:pPr>
            <a:r>
              <a:rPr sz="1425" b="0">
                <a:solidFill>
                  <a:srgbClr val="10233B"/>
                </a:solidFill>
              </a:rPr>
              <a:t>5  停課或離班以「封存」保留歷史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B8D82-573A-4ED4-A6B3-0D028EBF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補教紀錄 · Progress Hub</a:t>
            </a:r>
          </a:p>
        </p:txBody>
      </p:sp>
    </p:spTree>
    <p:extLst>
      <p:ext uri="{BB962C8B-B14F-4D97-AF65-F5344CB8AC3E}">
        <p14:creationId xmlns:p14="http://schemas.microsoft.com/office/powerpoint/2010/main" val="10410740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D0405-795B-4183-BAAE-088B900B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B57"/>
                </a:solidFill>
              </a:defRPr>
            </a:pPr>
            <a:r>
              <a:rPr sz="1125" b="1">
                <a:solidFill>
                  <a:srgbClr val="0F5B57"/>
                </a:solidFill>
              </a:rPr>
              <a:t>04 · 學生個人頁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375CC-739F-4F39-8736-6CE9C320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53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B"/>
                </a:solidFill>
              </a:defRPr>
            </a:pPr>
            <a:r>
              <a:rPr sz="2850" b="1">
                <a:solidFill>
                  <a:srgbClr val="10233B"/>
                </a:solidFill>
              </a:rPr>
              <a:t>個人頁集中呈現每位學生的完整學習軌跡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33494-913C-4770-8416-038AA64D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239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3F821-B0FD-478D-B52E-589B9D96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541DE-DF52-4295-AE27-1279F682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5B57"/>
                </a:solidFill>
              </a:defRPr>
            </a:pPr>
            <a:r>
              <a:rPr sz="1875" b="1">
                <a:solidFill>
                  <a:srgbClr val="0F5B57"/>
                </a:solidFill>
              </a:rPr>
              <a:t>Menu Bar 四個維度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062EA-8FEE-451B-92B3-8096C3BD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286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33B"/>
                </a:solidFill>
              </a:defRPr>
            </a:pPr>
            <a:r>
              <a:rPr sz="1800" b="0">
                <a:solidFill>
                  <a:srgbClr val="10233B"/>
                </a:solidFill>
              </a:rPr>
              <a:t>個人資料</a:t>
            </a:r>
          </a:p>
          <a:p xmlns:a="http://schemas.openxmlformats.org/drawingml/2006/main">
            <a:pPr algn="l">
              <a:defRPr sz="1800" b="0">
                <a:solidFill>
                  <a:srgbClr val="10233B"/>
                </a:solidFill>
              </a:defRPr>
            </a:pPr>
            <a:r>
              <a:rPr sz="1800" b="0">
                <a:solidFill>
                  <a:srgbClr val="10233B"/>
                </a:solidFill>
              </a:rPr>
              <a:t>課堂紀錄</a:t>
            </a:r>
          </a:p>
          <a:p xmlns:a="http://schemas.openxmlformats.org/drawingml/2006/main">
            <a:pPr algn="l">
              <a:defRPr sz="1800" b="0">
                <a:solidFill>
                  <a:srgbClr val="10233B"/>
                </a:solidFill>
              </a:defRPr>
            </a:pPr>
            <a:r>
              <a:rPr sz="1800" b="0">
                <a:solidFill>
                  <a:srgbClr val="10233B"/>
                </a:solidFill>
              </a:rPr>
              <a:t>考試紀錄</a:t>
            </a:r>
          </a:p>
          <a:p xmlns:a="http://schemas.openxmlformats.org/drawingml/2006/main">
            <a:pPr algn="l">
              <a:defRPr sz="1800" b="0">
                <a:solidFill>
                  <a:srgbClr val="10233B"/>
                </a:solidFill>
              </a:defRPr>
            </a:pPr>
            <a:r>
              <a:rPr sz="1800" b="0">
                <a:solidFill>
                  <a:srgbClr val="10233B"/>
                </a:solidFill>
              </a:rPr>
              <a:t>修課進度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6AFC4-3C6D-47DA-95F9-3A79D1E1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切換頁籤會保留目前捲動位置；網址 tab 也會同步更新，方便重新整理或分享指定頁籤。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01f12dd4d488e"/>
          <a:stretch xmlns:a="http://schemas.openxmlformats.org/drawingml/2006/main"/>
        </p:blipFill>
        <p:spPr>
          <a:xfrm xmlns:a="http://schemas.openxmlformats.org/drawingml/2006/main">
            <a:off x="4974991" y="1619250"/>
            <a:ext cx="5671018" cy="4267200"/>
          </a:xfrm>
          <a:prstGeom xmlns:a="http://schemas.openxmlformats.org/drawingml/2006/main" prst="roundRect">
            <a:avLst>
              <a:gd name="adj" fmla="val 267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1B905-844C-476C-90D1-AA7908CD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補教紀錄 · Progress Hub</a:t>
            </a:r>
          </a:p>
        </p:txBody>
      </p:sp>
    </p:spTree>
    <p:extLst>
      <p:ext uri="{BB962C8B-B14F-4D97-AF65-F5344CB8AC3E}">
        <p14:creationId xmlns:p14="http://schemas.microsoft.com/office/powerpoint/2010/main" val="2135941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A5FB7-B641-4B5F-A2EA-F4E950E9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B57"/>
                </a:solidFill>
              </a:defRPr>
            </a:pPr>
            <a:r>
              <a:rPr sz="1125" b="1">
                <a:solidFill>
                  <a:srgbClr val="0F5B57"/>
                </a:solidFill>
              </a:rPr>
              <a:t>05 · 全體學生進度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97466-DF08-4614-A7EC-AA55E71D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53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B"/>
                </a:solidFill>
              </a:defRPr>
            </a:pPr>
            <a:r>
              <a:rPr sz="2850" b="1">
                <a:solidFill>
                  <a:srgbClr val="10233B"/>
                </a:solidFill>
              </a:rPr>
              <a:t>先用進度總覽找出需要關注的學生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37C80-EBD1-4497-8145-BDE5E004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239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97FE3-63DE-400F-8DF6-E7F4134E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06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857f0dea34684"/>
          <a:stretch xmlns:a="http://schemas.openxmlformats.org/drawingml/2006/main"/>
        </p:blipFill>
        <p:spPr>
          <a:xfrm xmlns:a="http://schemas.openxmlformats.org/drawingml/2006/main">
            <a:off x="1564979" y="1619250"/>
            <a:ext cx="5633042" cy="4238625"/>
          </a:xfrm>
          <a:prstGeom xmlns:a="http://schemas.openxmlformats.org/drawingml/2006/main" prst="roundRect">
            <a:avLst>
              <a:gd name="adj" fmla="val 269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8EAFC-8F14-4E5B-9593-DA82C9A1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95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5B57"/>
                </a:solidFill>
              </a:defRPr>
            </a:pPr>
            <a:r>
              <a:rPr sz="1875" b="1">
                <a:solidFill>
                  <a:srgbClr val="0F5B57"/>
                </a:solidFill>
              </a:rPr>
              <a:t>操作方式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79829-2764-4039-9E6B-A8A38FD4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47900"/>
            <a:ext cx="2714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1  搜尋學生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2  依班級或狀態篩選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3  比較教材完成比例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4  查看最近更新時間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5  點入學生個人頁處理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63B7D-E58F-419E-8508-E60A2DC6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這一頁用於『找人』與判讀整體狀態；實際更新應在個人修課進度或今日課堂完成。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26AA3-BF8E-4731-BF5C-4C348391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補教紀錄 · Progress Hub</a:t>
            </a:r>
          </a:p>
        </p:txBody>
      </p:sp>
    </p:spTree>
    <p:extLst>
      <p:ext uri="{BB962C8B-B14F-4D97-AF65-F5344CB8AC3E}">
        <p14:creationId xmlns:p14="http://schemas.microsoft.com/office/powerpoint/2010/main" val="9529697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4231B-2F8D-428D-B2EC-5333B5ED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B57"/>
                </a:solidFill>
              </a:defRPr>
            </a:pPr>
            <a:r>
              <a:rPr sz="1125" b="1">
                <a:solidFill>
                  <a:srgbClr val="0F5B57"/>
                </a:solidFill>
              </a:rPr>
              <a:t>06 · 個人進度操作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2B397-7252-4E43-816E-A6F38ED7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53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B"/>
                </a:solidFill>
              </a:defRPr>
            </a:pPr>
            <a:r>
              <a:rPr sz="2850" b="1">
                <a:solidFill>
                  <a:srgbClr val="10233B"/>
                </a:solidFill>
              </a:rPr>
              <a:t>個人修課進度依教材版本逐項更新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0B866-12A2-498F-BEC4-FAF1AF02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239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51EDBE-E552-47B5-AB85-7F7E4D5B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07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2558dbe38d4b79"/>
          <a:stretch xmlns:a="http://schemas.openxmlformats.org/drawingml/2006/main"/>
        </p:blipFill>
        <p:spPr>
          <a:xfrm xmlns:a="http://schemas.openxmlformats.org/drawingml/2006/main">
            <a:off x="1469729" y="1619250"/>
            <a:ext cx="5633042" cy="4238625"/>
          </a:xfrm>
          <a:prstGeom xmlns:a="http://schemas.openxmlformats.org/drawingml/2006/main" prst="roundRect">
            <a:avLst>
              <a:gd name="adj" fmla="val 269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84D29-A692-4715-802A-0AEF692A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5B57"/>
                </a:solidFill>
              </a:defRPr>
            </a:pPr>
            <a:r>
              <a:rPr sz="1875" b="1">
                <a:solidFill>
                  <a:srgbClr val="0F5B57"/>
                </a:solidFill>
              </a:rPr>
              <a:t>四種狀態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24D3B-140A-48C8-843C-38E216CC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980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待進行　尚未開始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進行中　目前正在學習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已完成　納入教材完成率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略過　保留項目但不要求完成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92E17-DBE6-4170-AC5E-2EA6A6E1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52950"/>
            <a:ext cx="2857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3ADAE-D18A-4AEC-8AE6-51A67A79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62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3F3C"/>
                </a:solidFill>
              </a:defRPr>
            </a:pPr>
            <a:r>
              <a:rPr sz="1650" b="1">
                <a:solidFill>
                  <a:srgbClr val="073F3C"/>
                </a:solidFill>
              </a:rPr>
              <a:t>操作原則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912A4-7140-409E-99B8-54019C15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435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B"/>
                </a:solidFill>
              </a:defRPr>
            </a:pPr>
            <a:r>
              <a:rPr sz="1200" b="0">
                <a:solidFill>
                  <a:srgbClr val="10233B"/>
                </a:solidFill>
              </a:rPr>
              <a:t>更新單一項目後按「更新」；課堂中的頁數或學習位置改用選填備註記錄。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034DD-36DF-4C6D-9CF1-C8C57F25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補教紀錄 · Progress Hub</a:t>
            </a:r>
          </a:p>
        </p:txBody>
      </p:sp>
    </p:spTree>
    <p:extLst>
      <p:ext uri="{BB962C8B-B14F-4D97-AF65-F5344CB8AC3E}">
        <p14:creationId xmlns:p14="http://schemas.microsoft.com/office/powerpoint/2010/main" val="7449943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42ED6-A791-44DB-92F2-578A4990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B57"/>
                </a:solidFill>
              </a:defRPr>
            </a:pPr>
            <a:r>
              <a:rPr sz="1125" b="1">
                <a:solidFill>
                  <a:srgbClr val="0F5B57"/>
                </a:solidFill>
              </a:rPr>
              <a:t>07 · 教材範本庫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03E30-1340-4FBB-A2DD-AFBA6312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53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B"/>
                </a:solidFill>
              </a:defRPr>
            </a:pPr>
            <a:r>
              <a:rPr sz="2850" b="1">
                <a:solidFill>
                  <a:srgbClr val="10233B"/>
                </a:solidFill>
              </a:rPr>
              <a:t>教材範本只管理可重複使用的教學結構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525C9-D4C8-4EA2-BDEF-A133EFF9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239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833A1-1397-4109-8F15-033D1C9B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08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ffbd276d0457c"/>
          <a:stretch xmlns:a="http://schemas.openxmlformats.org/drawingml/2006/main"/>
        </p:blipFill>
        <p:spPr>
          <a:xfrm xmlns:a="http://schemas.openxmlformats.org/drawingml/2006/main">
            <a:off x="1564668" y="1657350"/>
            <a:ext cx="5443164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D9D76-B46D-4E91-80B1-D232749E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335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5B57"/>
                </a:solidFill>
              </a:defRPr>
            </a:pPr>
            <a:r>
              <a:rPr sz="1875" b="1">
                <a:solidFill>
                  <a:srgbClr val="0F5B57"/>
                </a:solidFill>
              </a:rPr>
              <a:t>建立順序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FE3C5-62A9-467A-B26B-8D390DB3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66950"/>
            <a:ext cx="2762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33B"/>
                </a:solidFill>
              </a:defRPr>
            </a:pPr>
            <a:r>
              <a:rPr sz="1650" b="0">
                <a:solidFill>
                  <a:srgbClr val="10233B"/>
                </a:solidFill>
              </a:rPr>
              <a:t>範本名稱</a:t>
            </a:r>
          </a:p>
          <a:p xmlns:a="http://schemas.openxmlformats.org/drawingml/2006/main">
            <a:pPr algn="l">
              <a:defRPr sz="1650" b="0">
                <a:solidFill>
                  <a:srgbClr val="10233B"/>
                </a:solidFill>
              </a:defRPr>
            </a:pPr>
            <a:r>
              <a:rPr sz="1650" b="0">
                <a:solidFill>
                  <a:srgbClr val="10233B"/>
                </a:solidFill>
              </a:rPr>
              <a:t>→ 年級／科目／版本</a:t>
            </a:r>
          </a:p>
          <a:p xmlns:a="http://schemas.openxmlformats.org/drawingml/2006/main">
            <a:pPr algn="l">
              <a:defRPr sz="1650" b="0">
                <a:solidFill>
                  <a:srgbClr val="10233B"/>
                </a:solidFill>
              </a:defRPr>
            </a:pPr>
            <a:r>
              <a:rPr sz="1650" b="0">
                <a:solidFill>
                  <a:srgbClr val="10233B"/>
                </a:solidFill>
              </a:rPr>
              <a:t>→ 單元（大標題）</a:t>
            </a:r>
          </a:p>
          <a:p xmlns:a="http://schemas.openxmlformats.org/drawingml/2006/main">
            <a:pPr algn="l">
              <a:defRPr sz="1650" b="0">
                <a:solidFill>
                  <a:srgbClr val="10233B"/>
                </a:solidFill>
              </a:defRPr>
            </a:pPr>
            <a:r>
              <a:rPr sz="1650" b="0">
                <a:solidFill>
                  <a:srgbClr val="10233B"/>
                </a:solidFill>
              </a:rPr>
              <a:t>→ 章節（單元內內容）</a:t>
            </a:r>
          </a:p>
          <a:p xmlns:a="http://schemas.openxmlformats.org/drawingml/2006/main">
            <a:pPr algn="l">
              <a:defRPr sz="1650" b="0">
                <a:solidFill>
                  <a:srgbClr val="10233B"/>
                </a:solidFill>
              </a:defRPr>
            </a:pPr>
            <a:r>
              <a:rPr sz="1650" b="0">
                <a:solidFill>
                  <a:srgbClr val="10233B"/>
                </a:solidFill>
              </a:rPr>
              <a:t>→ 發布版本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3E7F1-5D22-4F80-A390-3022951B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5775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講義與考卷分開建立；額外考卷可在課堂紀錄中臨時新增，不必污染教材完成率。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8DF80-D399-49B8-B883-0C5A0654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補教紀錄 · Progress Hub</a:t>
            </a:r>
          </a:p>
        </p:txBody>
      </p:sp>
    </p:spTree>
    <p:extLst>
      <p:ext uri="{BB962C8B-B14F-4D97-AF65-F5344CB8AC3E}">
        <p14:creationId xmlns:p14="http://schemas.microsoft.com/office/powerpoint/2010/main" val="20197900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668F1-25D8-49CD-8AAF-9E1202A6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B57"/>
                </a:solidFill>
              </a:defRPr>
            </a:pPr>
            <a:r>
              <a:rPr sz="1125" b="1">
                <a:solidFill>
                  <a:srgbClr val="0F5B57"/>
                </a:solidFill>
              </a:rPr>
              <a:t>08 · 課程班級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0647B-040E-441E-9C19-A788B1F1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53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B"/>
                </a:solidFill>
              </a:defRPr>
            </a:pPr>
            <a:r>
              <a:rPr sz="2850" b="1">
                <a:solidFill>
                  <a:srgbClr val="10233B"/>
                </a:solidFill>
              </a:rPr>
              <a:t>班級頁負責成員、教師與固定排課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C447C-8F94-448C-8090-4110A60A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239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4805B-25B4-48BC-9AEE-D0AD600D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09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f0c0cb2dc4a7f"/>
          <a:stretch xmlns:a="http://schemas.openxmlformats.org/drawingml/2006/main"/>
        </p:blipFill>
        <p:spPr>
          <a:xfrm xmlns:a="http://schemas.openxmlformats.org/drawingml/2006/main">
            <a:off x="1564979" y="1619250"/>
            <a:ext cx="5633042" cy="4238625"/>
          </a:xfrm>
          <a:prstGeom xmlns:a="http://schemas.openxmlformats.org/drawingml/2006/main" prst="roundRect">
            <a:avLst>
              <a:gd name="adj" fmla="val 269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78F1A-4835-4F0A-9FB6-6C38050A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9545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5B57"/>
                </a:solidFill>
              </a:defRPr>
            </a:pPr>
            <a:r>
              <a:rPr sz="1875" b="1">
                <a:solidFill>
                  <a:srgbClr val="0F5B57"/>
                </a:solidFill>
              </a:rPr>
              <a:t>班級可以做什麼？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CEBC1-6DBD-4786-91F3-B3E5ED6C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47900"/>
            <a:ext cx="2762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3B"/>
                </a:solidFill>
              </a:defRPr>
            </a:pPr>
            <a:r>
              <a:rPr sz="1425" b="0">
                <a:solidFill>
                  <a:srgbClr val="10233B"/>
                </a:solidFill>
              </a:rPr>
              <a:t>• 新增／編輯班級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233B"/>
                </a:solidFill>
              </a:defRPr>
            </a:pPr>
            <a:r>
              <a:rPr sz="1425" b="0">
                <a:solidFill>
                  <a:srgbClr val="10233B"/>
                </a:solidFill>
              </a:rPr>
              <a:t>• 指派教師與負責導師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233B"/>
                </a:solidFill>
              </a:defRPr>
            </a:pPr>
            <a:r>
              <a:rPr sz="1425" b="0">
                <a:solidFill>
                  <a:srgbClr val="10233B"/>
                </a:solidFill>
              </a:rPr>
              <a:t>• 設定每週多個上課時段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233B"/>
                </a:solidFill>
              </a:defRPr>
            </a:pPr>
            <a:r>
              <a:rPr sz="1425" b="0">
                <a:solidFill>
                  <a:srgbClr val="10233B"/>
                </a:solidFill>
              </a:rPr>
              <a:t>• 加入或移出學生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233B"/>
                </a:solidFill>
              </a:defRPr>
            </a:pPr>
            <a:r>
              <a:rPr sz="1425" b="0">
                <a:solidFill>
                  <a:srgbClr val="10233B"/>
                </a:solidFill>
              </a:rPr>
              <a:t>• 查看篩選後學生名單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233B"/>
                </a:solidFill>
              </a:defRPr>
            </a:pPr>
            <a:r>
              <a:rPr sz="1425" b="0">
                <a:solidFill>
                  <a:srgbClr val="10233B"/>
                </a:solidFill>
              </a:rPr>
              <a:t>• 封存已停開班級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D6C74-AEB8-4925-BC72-F8D39468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補教紀錄 · Progress Hub</a:t>
            </a:r>
          </a:p>
        </p:txBody>
      </p:sp>
    </p:spTree>
    <p:extLst>
      <p:ext uri="{BB962C8B-B14F-4D97-AF65-F5344CB8AC3E}">
        <p14:creationId xmlns:p14="http://schemas.microsoft.com/office/powerpoint/2010/main" val="19290478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67E05D-D9A2-4BD3-B9D7-309D3E07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B57"/>
                </a:solidFill>
              </a:defRPr>
            </a:pPr>
            <a:r>
              <a:rPr sz="1125" b="1">
                <a:solidFill>
                  <a:srgbClr val="0F5B57"/>
                </a:solidFill>
              </a:rPr>
              <a:t>09 · 今日課堂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6D40E-6A78-40A9-AEA6-DAF78306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53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B"/>
                </a:solidFill>
              </a:defRPr>
            </a:pPr>
            <a:r>
              <a:rPr sz="2850" b="1">
                <a:solidFill>
                  <a:srgbClr val="10233B"/>
                </a:solidFill>
              </a:rPr>
              <a:t>一堂課內完成點名與個別進度登錄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C3DA4-CB45-46F1-A1CE-0BA19CF9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239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47996-0617-4281-8E86-B947E270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10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8b693a7e744a2"/>
          <a:stretch xmlns:a="http://schemas.openxmlformats.org/drawingml/2006/main"/>
        </p:blipFill>
        <p:spPr>
          <a:xfrm xmlns:a="http://schemas.openxmlformats.org/drawingml/2006/main">
            <a:off x="1517354" y="1619250"/>
            <a:ext cx="5633042" cy="4238625"/>
          </a:xfrm>
          <a:prstGeom xmlns:a="http://schemas.openxmlformats.org/drawingml/2006/main" prst="roundRect">
            <a:avLst>
              <a:gd name="adj" fmla="val 269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14E3B-F8FE-4C29-BFF5-1102B65C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95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5B57"/>
                </a:solidFill>
              </a:defRPr>
            </a:pPr>
            <a:r>
              <a:rPr sz="1875" b="1">
                <a:solidFill>
                  <a:srgbClr val="0F5B57"/>
                </a:solidFill>
              </a:rPr>
              <a:t>建議操作順序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F2711-0807-4FD0-9D48-A44BEF27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F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80114-60FC-4858-B5A3-FC45793B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BAF58-FF70-419A-B808-4E53E334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574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B"/>
                </a:solidFill>
              </a:defRPr>
            </a:pPr>
            <a:r>
              <a:rPr sz="1800" b="1">
                <a:solidFill>
                  <a:srgbClr val="10233B"/>
                </a:solidFill>
              </a:rPr>
              <a:t>確認日期與學生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7D35C-C77A-4AC1-8EA6-F9297A45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908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依排課及有效 Enrollment 產生名單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4CCB4-9AAF-4475-BF7B-5B31F10E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F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445960-631F-4818-8525-AFB92A8B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67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65DEF-C70E-4827-A1E7-90AC7244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623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B"/>
                </a:solidFill>
              </a:defRPr>
            </a:pPr>
            <a:r>
              <a:rPr sz="1800" b="1">
                <a:solidFill>
                  <a:srgbClr val="10233B"/>
                </a:solidFill>
              </a:rPr>
              <a:t>調整出席狀態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D7846B-BB7D-406C-96BB-BACB4715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957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出席、遲到、請假或缺席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7EC280-F618-4966-A5E3-D193AA68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767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F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DF538E-F027-45E5-963F-07027BFE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72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5AC81-D0E9-4C58-ACEC-A8A4A91C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672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B"/>
                </a:solidFill>
              </a:defRPr>
            </a:pPr>
            <a:r>
              <a:rPr sz="1800" b="1">
                <a:solidFill>
                  <a:srgbClr val="10233B"/>
                </a:solidFill>
              </a:rPr>
              <a:t>填寫個別進度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63986-4A00-446A-8271-DA54BEEF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006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選學生教材項目、狀態與選填備註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EF53A1-F6A3-4462-A5EB-E819100B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F3C"/>
                </a:solidFill>
              </a:defRPr>
            </a:pPr>
            <a:r>
              <a:rPr sz="1350" b="1">
                <a:solidFill>
                  <a:srgbClr val="073F3C"/>
                </a:solidFill>
              </a:rPr>
              <a:t>最後按「統一更新」一次送出整堂課狀態。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7629E8-F260-4A8E-A84F-73F4EF09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補教紀錄 · Progress Hub</a:t>
            </a:r>
          </a:p>
        </p:txBody>
      </p:sp>
    </p:spTree>
    <p:extLst>
      <p:ext uri="{BB962C8B-B14F-4D97-AF65-F5344CB8AC3E}">
        <p14:creationId xmlns:p14="http://schemas.microsoft.com/office/powerpoint/2010/main" val="4960786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6D281-5C6C-45FD-9593-643B0073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B57"/>
                </a:solidFill>
              </a:defRPr>
            </a:pPr>
            <a:r>
              <a:rPr sz="1125" b="1">
                <a:solidFill>
                  <a:srgbClr val="0F5B57"/>
                </a:solidFill>
              </a:rPr>
              <a:t>10 · 出缺席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075BB-F0EB-43A8-AF1A-5A4BF32E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53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B"/>
                </a:solidFill>
              </a:defRPr>
            </a:pPr>
            <a:r>
              <a:rPr sz="2850" b="1">
                <a:solidFill>
                  <a:srgbClr val="10233B"/>
                </a:solidFill>
              </a:rPr>
              <a:t>出缺席頁適合快速處理跨班級點名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12E8B-02A3-4FCE-AD85-A25D1C8B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239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3DCFC-0F92-48A7-83A8-0CC2226A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11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f288cb9254467"/>
          <a:stretch xmlns:a="http://schemas.openxmlformats.org/drawingml/2006/main"/>
        </p:blipFill>
        <p:spPr>
          <a:xfrm xmlns:a="http://schemas.openxmlformats.org/drawingml/2006/main">
            <a:off x="1564032" y="1619250"/>
            <a:ext cx="5634936" cy="4238625"/>
          </a:xfrm>
          <a:prstGeom xmlns:a="http://schemas.openxmlformats.org/drawingml/2006/main" prst="roundRect">
            <a:avLst>
              <a:gd name="adj" fmla="val 269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27F58-ED37-4A90-AAD5-BB171A66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95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5B57"/>
                </a:solidFill>
              </a:defRPr>
            </a:pPr>
            <a:r>
              <a:rPr sz="1875" b="1">
                <a:solidFill>
                  <a:srgbClr val="0F5B57"/>
                </a:solidFill>
              </a:rPr>
              <a:t>操作重點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A0971-495F-4AEB-B806-330419B4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66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B"/>
                </a:solidFill>
              </a:defRPr>
            </a:pPr>
            <a:r>
              <a:rPr sz="1575" b="0">
                <a:solidFill>
                  <a:srgbClr val="10233B"/>
                </a:solidFill>
              </a:rPr>
              <a:t>選擇日期與班級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0233B"/>
                </a:solidFill>
              </a:defRPr>
            </a:pPr>
            <a:r>
              <a:rPr sz="1575" b="0">
                <a:solidFill>
                  <a:srgbClr val="10233B"/>
                </a:solidFill>
              </a:rPr>
              <a:t>預設全體出席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0233B"/>
                </a:solidFill>
              </a:defRPr>
            </a:pPr>
            <a:r>
              <a:rPr sz="1575" b="0">
                <a:solidFill>
                  <a:srgbClr val="10233B"/>
                </a:solidFill>
              </a:rPr>
              <a:t>只修改例外學生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0233B"/>
                </a:solidFill>
              </a:defRPr>
            </a:pPr>
            <a:r>
              <a:rPr sz="1575" b="0">
                <a:solidFill>
                  <a:srgbClr val="10233B"/>
                </a:solidFill>
              </a:rPr>
              <a:t>確認統計數字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0233B"/>
                </a:solidFill>
              </a:defRPr>
            </a:pPr>
            <a:r>
              <a:rPr sz="1575" b="0">
                <a:solidFill>
                  <a:srgbClr val="10233B"/>
                </a:solidFill>
              </a:rPr>
              <a:t>完成後進入今日課堂補進度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FF469-4B2C-4330-9AF7-B634EB6C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補教紀錄 · Progress Hub</a:t>
            </a:r>
          </a:p>
        </p:txBody>
      </p:sp>
    </p:spTree>
    <p:extLst>
      <p:ext uri="{BB962C8B-B14F-4D97-AF65-F5344CB8AC3E}">
        <p14:creationId xmlns:p14="http://schemas.microsoft.com/office/powerpoint/2010/main" val="20211640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B9EE3-0CDE-4E61-93C0-09BDCC0B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B57"/>
                </a:solidFill>
              </a:defRPr>
            </a:pPr>
            <a:r>
              <a:rPr sz="1125" b="1">
                <a:solidFill>
                  <a:srgbClr val="0F5B57"/>
                </a:solidFill>
              </a:rPr>
              <a:t>11 · 系統治理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CB4E3-4806-4D66-A4A1-71EA2156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53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B"/>
                </a:solidFill>
              </a:defRPr>
            </a:pPr>
            <a:r>
              <a:rPr sz="2850" b="1">
                <a:solidFill>
                  <a:srgbClr val="10233B"/>
                </a:solidFill>
              </a:rPr>
              <a:t>帳號與角色權限屬於低頻管理工作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4FAC5-9819-4B46-B76A-30616205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239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2AAC8-D079-40B2-93BF-E32362C1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12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1c0842ae5485a"/>
          <a:stretch xmlns:a="http://schemas.openxmlformats.org/drawingml/2006/main"/>
        </p:blipFill>
        <p:spPr>
          <a:xfrm xmlns:a="http://schemas.openxmlformats.org/drawingml/2006/main">
            <a:off x="1564668" y="1619250"/>
            <a:ext cx="5443164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1D5D1-3836-4034-AD25-EE3898EA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33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5B57"/>
                </a:solidFill>
              </a:defRPr>
            </a:pPr>
            <a:r>
              <a:rPr sz="1875" b="1">
                <a:solidFill>
                  <a:srgbClr val="0F5B57"/>
                </a:solidFill>
              </a:rPr>
              <a:t>Owner／主任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C4716-E23C-40B3-9E69-C7E4C6E2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2857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• 建立與停用帳號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• 指派角色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• 檢查功能權限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• 保護最後一位 Owner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• 依組織與班級限制資料範圍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19ABA-5AB5-4977-A0A3-0AF4C4F2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8637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2626"/>
                </a:solidFill>
              </a:defRPr>
            </a:pPr>
            <a:r>
              <a:rPr sz="1275" b="1">
                <a:solidFill>
                  <a:srgbClr val="DC2626"/>
                </a:solidFill>
              </a:rPr>
              <a:t>正式版仍需 Supabase Auth + RLS，不能只靠畫面隱藏按鈕。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55E33-5330-42C3-B723-F23CFC8A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補教紀錄 · Progress Hub</a:t>
            </a:r>
          </a:p>
        </p:txBody>
      </p:sp>
    </p:spTree>
    <p:extLst>
      <p:ext uri="{BB962C8B-B14F-4D97-AF65-F5344CB8AC3E}">
        <p14:creationId xmlns:p14="http://schemas.microsoft.com/office/powerpoint/2010/main" val="2431984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6508BC-48FF-4AD5-8A15-80E5E5FC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B57"/>
                </a:solidFill>
              </a:defRPr>
            </a:pPr>
            <a:r>
              <a:rPr sz="1125" b="1">
                <a:solidFill>
                  <a:srgbClr val="0F5B57"/>
                </a:solidFill>
              </a:rPr>
              <a:t>12 · 建議工作流程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8FC86-9CF6-4A34-BBE4-E542A43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53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B"/>
                </a:solidFill>
              </a:defRPr>
            </a:pPr>
            <a:r>
              <a:rPr sz="2850" b="1">
                <a:solidFill>
                  <a:srgbClr val="10233B"/>
                </a:solidFill>
              </a:rPr>
              <a:t>日常操作以『今天要完成什麼』為順序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85178-D29E-481D-B825-3E264E3B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239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83567-9192-4401-8BCB-818C23C0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70AFB-63BA-42BC-A411-7402ED3F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F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6A19C-D048-4151-BA7E-28E4447C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3D4CE-1DAC-401C-B3EA-EB7AD368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240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B"/>
                </a:solidFill>
              </a:defRPr>
            </a:pPr>
            <a:r>
              <a:rPr sz="1800" b="1">
                <a:solidFill>
                  <a:srgbClr val="10233B"/>
                </a:solidFill>
              </a:rPr>
              <a:t>進入課程班級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24774-2396-4DF6-B996-E2064446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574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選擇今天上課的班級與日期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3466D-820C-49C8-8521-CA7C7C5F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F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25BF9F-576C-44D0-B856-2817849F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2C8BF-C0D5-49FF-B5F6-45B6BD6D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146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B"/>
                </a:solidFill>
              </a:defRPr>
            </a:pPr>
            <a:r>
              <a:rPr sz="1800" b="1">
                <a:solidFill>
                  <a:srgbClr val="10233B"/>
                </a:solidFill>
              </a:rPr>
              <a:t>完成點名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75CFD-FEB0-4DA5-B435-876576B9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48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預設出席，只修改遲到、請假與缺席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E170B-1A83-42B8-B649-B4DCDA3A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F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39508-1CB8-4168-9C35-9661F95E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BCEB9-5281-4ECC-AF35-E4788C2C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052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B"/>
                </a:solidFill>
              </a:defRPr>
            </a:pPr>
            <a:r>
              <a:rPr sz="1800" b="1">
                <a:solidFill>
                  <a:srgbClr val="10233B"/>
                </a:solidFill>
              </a:rPr>
              <a:t>登錄課堂進度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1C967-28AE-4630-B18A-EECD7339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386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每位學生依自己的教材版本更新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4034B5-1AA8-40B0-AEC0-DF138991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F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F3326D-70B7-48DE-B9D9-1F20DA21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CC7F4F-E6EF-4E15-964D-A7F3891B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958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B"/>
                </a:solidFill>
              </a:defRPr>
            </a:pPr>
            <a:r>
              <a:rPr sz="1800" b="1">
                <a:solidFill>
                  <a:srgbClr val="10233B"/>
                </a:solidFill>
              </a:rPr>
              <a:t>補登考卷與評語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4D3172-51C1-4FD1-845E-B313306D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292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額外考卷獨立記錄，不影響教材完成率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605081-0D90-44B2-8A69-DAF69D8D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47850"/>
            <a:ext cx="4095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73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B5CC99-A85A-4B08-83D7-3866447A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860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完成後可追蹤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F393B0-5721-455D-96D5-18351DAA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2895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4F3F1"/>
                </a:solidFill>
              </a:defRPr>
            </a:pPr>
            <a:r>
              <a:rPr sz="1575" b="0">
                <a:solidFill>
                  <a:srgbClr val="E4F3F1"/>
                </a:solidFill>
              </a:rPr>
              <a:t>學生個人課堂紀錄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E4F3F1"/>
                </a:solidFill>
              </a:defRPr>
            </a:pPr>
            <a:r>
              <a:rPr sz="1575" b="0">
                <a:solidFill>
                  <a:srgbClr val="E4F3F1"/>
                </a:solidFill>
              </a:rPr>
              <a:t>考試成績與修課進度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E4F3F1"/>
                </a:solidFill>
              </a:defRPr>
            </a:pPr>
            <a:r>
              <a:rPr sz="1575" b="0">
                <a:solidFill>
                  <a:srgbClr val="E4F3F1"/>
                </a:solidFill>
              </a:rPr>
              <a:t>班級與全校學習指標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E4F3F1"/>
                </a:solidFill>
              </a:defRPr>
            </a:pPr>
            <a:r>
              <a:rPr sz="1575" b="0">
                <a:solidFill>
                  <a:srgbClr val="E4F3F1"/>
                </a:solidFill>
              </a:rPr>
              <a:t>家長端可讀取的歷史資料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960D2D-A150-4A2B-8B2D-07F5F199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補教紀錄 · Progress Hub</a:t>
            </a:r>
          </a:p>
        </p:txBody>
      </p:sp>
    </p:spTree>
    <p:extLst>
      <p:ext uri="{BB962C8B-B14F-4D97-AF65-F5344CB8AC3E}">
        <p14:creationId xmlns:p14="http://schemas.microsoft.com/office/powerpoint/2010/main" val="10987413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A014D-A9EC-419D-9D70-943BDB6E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B57"/>
                </a:solidFill>
              </a:defRPr>
            </a:pPr>
            <a:r>
              <a:rPr sz="1125" b="1">
                <a:solidFill>
                  <a:srgbClr val="0F5B57"/>
                </a:solidFill>
              </a:rPr>
              <a:t>13 · 現況與下一步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DA654-6FB4-4161-98DC-673803BC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53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B"/>
                </a:solidFill>
              </a:defRPr>
            </a:pPr>
            <a:r>
              <a:rPr sz="2850" b="1">
                <a:solidFill>
                  <a:srgbClr val="10233B"/>
                </a:solidFill>
              </a:rPr>
              <a:t>公開測試前，先清楚區分 Mock 與正式能力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58BEE-0FDF-4127-ADD8-C57A5586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239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B0A16-C8A0-4860-A15D-0C3584ED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AD462-D992-4C91-9133-15148E88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5B57"/>
                </a:solidFill>
              </a:defRPr>
            </a:pPr>
            <a:r>
              <a:rPr sz="2100" b="1">
                <a:solidFill>
                  <a:srgbClr val="0F5B57"/>
                </a:solidFill>
              </a:rPr>
              <a:t>目前可以測試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5572B-F7BE-4CB3-BC3D-2C17EB5B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286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B"/>
                </a:solidFill>
              </a:defRPr>
            </a:pPr>
            <a:r>
              <a:rPr sz="1575" b="0">
                <a:solidFill>
                  <a:srgbClr val="10233B"/>
                </a:solidFill>
              </a:rPr>
              <a:t>介面操作流程</a:t>
            </a:r>
          </a:p>
          <a:p xmlns:a="http://schemas.openxmlformats.org/drawingml/2006/main">
            <a:pPr algn="l">
              <a:defRPr sz="1575" b="0">
                <a:solidFill>
                  <a:srgbClr val="10233B"/>
                </a:solidFill>
              </a:defRPr>
            </a:pPr>
            <a:r>
              <a:rPr sz="1575" b="0">
                <a:solidFill>
                  <a:srgbClr val="10233B"/>
                </a:solidFill>
              </a:rPr>
              <a:t>角色切換與功能可見性</a:t>
            </a:r>
          </a:p>
          <a:p xmlns:a="http://schemas.openxmlformats.org/drawingml/2006/main">
            <a:pPr algn="l">
              <a:defRPr sz="1575" b="0">
                <a:solidFill>
                  <a:srgbClr val="10233B"/>
                </a:solidFill>
              </a:defRPr>
            </a:pPr>
            <a:r>
              <a:rPr sz="1575" b="0">
                <a:solidFill>
                  <a:srgbClr val="10233B"/>
                </a:solidFill>
              </a:rPr>
              <a:t>學生、班級、教材與課堂流程</a:t>
            </a:r>
          </a:p>
          <a:p xmlns:a="http://schemas.openxmlformats.org/drawingml/2006/main">
            <a:pPr algn="l">
              <a:defRPr sz="1575" b="0">
                <a:solidFill>
                  <a:srgbClr val="10233B"/>
                </a:solidFill>
              </a:defRPr>
            </a:pPr>
            <a:r>
              <a:rPr sz="1575" b="0">
                <a:solidFill>
                  <a:srgbClr val="10233B"/>
                </a:solidFill>
              </a:rPr>
              <a:t>假資料下的欄位與互動體驗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12290-1B3F-4B82-BAA3-45913EB6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954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32D9F-10A9-447C-8DA9-6C087504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716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C2626"/>
                </a:solidFill>
              </a:defRPr>
            </a:pPr>
            <a:r>
              <a:rPr sz="2100" b="1">
                <a:solidFill>
                  <a:srgbClr val="DC2626"/>
                </a:solidFill>
              </a:rPr>
              <a:t>尚未適合正式營運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A574C-E6A4-4D27-AAC8-ABB2525C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4095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B"/>
                </a:solidFill>
              </a:defRPr>
            </a:pPr>
            <a:r>
              <a:rPr sz="1575" b="0">
                <a:solidFill>
                  <a:srgbClr val="10233B"/>
                </a:solidFill>
              </a:rPr>
              <a:t>真實帳號與登入安全</a:t>
            </a:r>
          </a:p>
          <a:p xmlns:a="http://schemas.openxmlformats.org/drawingml/2006/main">
            <a:pPr algn="l">
              <a:defRPr sz="1575" b="0">
                <a:solidFill>
                  <a:srgbClr val="10233B"/>
                </a:solidFill>
              </a:defRPr>
            </a:pPr>
            <a:r>
              <a:rPr sz="1575" b="0">
                <a:solidFill>
                  <a:srgbClr val="10233B"/>
                </a:solidFill>
              </a:rPr>
              <a:t>真實學生個資</a:t>
            </a:r>
          </a:p>
          <a:p xmlns:a="http://schemas.openxmlformats.org/drawingml/2006/main">
            <a:pPr algn="l">
              <a:defRPr sz="1575" b="0">
                <a:solidFill>
                  <a:srgbClr val="10233B"/>
                </a:solidFill>
              </a:defRPr>
            </a:pPr>
            <a:r>
              <a:rPr sz="1575" b="0">
                <a:solidFill>
                  <a:srgbClr val="10233B"/>
                </a:solidFill>
              </a:rPr>
              <a:t>多人同時修改與永久保存</a:t>
            </a:r>
          </a:p>
          <a:p xmlns:a="http://schemas.openxmlformats.org/drawingml/2006/main">
            <a:pPr algn="l">
              <a:defRPr sz="1575" b="0">
                <a:solidFill>
                  <a:srgbClr val="10233B"/>
                </a:solidFill>
              </a:defRPr>
            </a:pPr>
            <a:r>
              <a:rPr sz="1575" b="0">
                <a:solidFill>
                  <a:srgbClr val="10233B"/>
                </a:solidFill>
              </a:rPr>
              <a:t>資料庫備份、稽核與 RLS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28C49-2173-491B-8EF9-2C85E6DC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191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28CE7-C58E-4AC6-8EBE-74DA7106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43575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3F3C"/>
                </a:solidFill>
              </a:defRPr>
            </a:pPr>
            <a:r>
              <a:rPr sz="1575" b="1">
                <a:solidFill>
                  <a:srgbClr val="073F3C"/>
                </a:solidFill>
              </a:rPr>
              <a:t>下一步：確認操作流程 → 串接 Supabase Auth／PostgreSQL／RLS → 再部署公開測試。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4ED54B-1990-478A-B10D-BDFAEE1F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補教紀錄 · Progress Hub</a:t>
            </a:r>
          </a:p>
        </p:txBody>
      </p:sp>
    </p:spTree>
    <p:extLst>
      <p:ext uri="{BB962C8B-B14F-4D97-AF65-F5344CB8AC3E}">
        <p14:creationId xmlns:p14="http://schemas.microsoft.com/office/powerpoint/2010/main" val="16774790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2026-08-31T09:04:38.7030000Z</dcterms:created>
  <dcterms:modified xsi:type="dcterms:W3CDTF">2026-08-31T09:04:38.7030000Z</dcterms:modified>
</coreProperties>
</file>